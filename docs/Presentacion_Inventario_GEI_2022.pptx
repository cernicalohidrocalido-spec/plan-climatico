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6" r:id="rId3"/>
    <p:sldId id="445" r:id="rId4"/>
    <p:sldId id="462" r:id="rId5"/>
    <p:sldId id="273" r:id="rId6"/>
    <p:sldId id="274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70" r:id="rId16"/>
    <p:sldId id="265" r:id="rId17"/>
    <p:sldId id="266" r:id="rId18"/>
    <p:sldId id="267" r:id="rId19"/>
    <p:sldId id="268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558" y="-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Emisiones (tCO₂e)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C5F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DFB-4E89-91BB-FB4C645B04CD}"/>
              </c:ext>
            </c:extLst>
          </c:dPt>
          <c:dPt>
            <c:idx val="1"/>
            <c:invertIfNegative val="0"/>
            <c:bubble3D val="0"/>
            <c:spPr>
              <a:solidFill>
                <a:srgbClr val="6E9B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DFB-4E89-91BB-FB4C645B04CD}"/>
              </c:ext>
            </c:extLst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DFB-4E89-91BB-FB4C645B04CD}"/>
              </c:ext>
            </c:extLst>
          </c:dPt>
          <c:dPt>
            <c:idx val="3"/>
            <c:invertIfNegative val="0"/>
            <c:bubble3D val="0"/>
            <c:spPr>
              <a:solidFill>
                <a:srgbClr val="8A6BA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DFB-4E89-91BB-FB4C645B04CD}"/>
              </c:ext>
            </c:extLst>
          </c:dPt>
          <c:dPt>
            <c:idx val="4"/>
            <c:invertIfNegative val="0"/>
            <c:bubble3D val="0"/>
            <c:spPr>
              <a:solidFill>
                <a:srgbClr val="B846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DFB-4E89-91BB-FB4C645B04C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1F2A22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Energía Estacionaria</c:v>
                </c:pt>
                <c:pt idx="1">
                  <c:v>Autotransporte</c:v>
                </c:pt>
                <c:pt idx="2">
                  <c:v>AFOLU</c:v>
                </c:pt>
                <c:pt idx="3">
                  <c:v>IPPU</c:v>
                </c:pt>
                <c:pt idx="4">
                  <c:v>Residuos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77619.69</c:v>
                </c:pt>
                <c:pt idx="1">
                  <c:v>72113.149999999994</c:v>
                </c:pt>
                <c:pt idx="2">
                  <c:v>42482.91</c:v>
                </c:pt>
                <c:pt idx="3">
                  <c:v>3645.09</c:v>
                </c:pt>
                <c:pt idx="4">
                  <c:v>1653.91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DFB-4E89-91BB-FB4C645B04C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F2A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Gas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7C2-45F7-AB71-40A0EF8A962B}"/>
              </c:ext>
            </c:extLst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7C2-45F7-AB71-40A0EF8A962B}"/>
              </c:ext>
            </c:extLst>
          </c:dPt>
          <c:dPt>
            <c:idx val="2"/>
            <c:bubble3D val="0"/>
            <c:spPr>
              <a:solidFill>
                <a:srgbClr val="6E9B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7C2-45F7-AB71-40A0EF8A962B}"/>
              </c:ext>
            </c:extLst>
          </c:dPt>
          <c:dPt>
            <c:idx val="3"/>
            <c:bubble3D val="0"/>
            <c:spPr>
              <a:solidFill>
                <a:srgbClr val="8A6BA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7C2-45F7-AB71-40A0EF8A962B}"/>
              </c:ext>
            </c:extLst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2400" b="0" i="0" u="none" strike="noStrike">
                      <a:solidFill>
                        <a:srgbClr val="1F2A22"/>
                      </a:solidFill>
                      <a:latin typeface="Arial"/>
                    </a:defRPr>
                  </a:pPr>
                  <a:endParaRPr lang="es-MX"/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7C2-45F7-AB71-40A0EF8A962B}"/>
                </c:ext>
              </c:extLst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2400" b="0" i="0" u="none" strike="noStrike">
                      <a:solidFill>
                        <a:srgbClr val="1F2A22"/>
                      </a:solidFill>
                      <a:latin typeface="Arial"/>
                    </a:defRPr>
                  </a:pPr>
                  <a:endParaRPr lang="es-MX"/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7C2-45F7-AB71-40A0EF8A962B}"/>
                </c:ext>
              </c:extLst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2400" b="0" i="0" u="none" strike="noStrike">
                      <a:solidFill>
                        <a:srgbClr val="1F2A22"/>
                      </a:solidFill>
                      <a:latin typeface="Arial"/>
                    </a:defRPr>
                  </a:pPr>
                  <a:endParaRPr lang="es-MX"/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7C2-45F7-AB71-40A0EF8A962B}"/>
                </c:ext>
              </c:extLst>
            </c:dLbl>
            <c:dLbl>
              <c:idx val="3"/>
              <c:layout>
                <c:manualLayout>
                  <c:x val="5.4563492063492064E-2"/>
                  <c:y val="0"/>
                </c:manualLayout>
              </c:layout>
              <c:numFmt formatCode="0.0%" sourceLinked="0"/>
              <c:spPr/>
              <c:txPr>
                <a:bodyPr/>
                <a:lstStyle/>
                <a:p>
                  <a:pPr>
                    <a:defRPr sz="2400" b="0" i="0" u="none" strike="noStrike">
                      <a:solidFill>
                        <a:srgbClr val="1F2A22"/>
                      </a:solidFill>
                      <a:latin typeface="Arial"/>
                    </a:defRPr>
                  </a:pPr>
                  <a:endParaRPr lang="es-MX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7C2-45F7-AB71-40A0EF8A962B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4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MX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CO₂</c:v>
                </c:pt>
                <c:pt idx="1">
                  <c:v>N₂O</c:v>
                </c:pt>
                <c:pt idx="2">
                  <c:v>CH₄</c:v>
                </c:pt>
                <c:pt idx="3">
                  <c:v>HFC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159142.54</c:v>
                </c:pt>
                <c:pt idx="1">
                  <c:v>17684.02</c:v>
                </c:pt>
                <c:pt idx="2">
                  <c:v>17009.400000000001</c:v>
                </c:pt>
                <c:pt idx="3">
                  <c:v>2531.5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7C2-45F7-AB71-40A0EF8A96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AFOLU</c:v>
                </c:pt>
              </c:strCache>
            </c:strRef>
          </c:tx>
          <c:spPr>
            <a:solidFill>
              <a:srgbClr val="B8462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846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F48-495E-9AE0-E56629611A3A}"/>
              </c:ext>
            </c:extLst>
          </c:dPt>
          <c:dPt>
            <c:idx val="1"/>
            <c:invertIfNegative val="0"/>
            <c:bubble3D val="0"/>
            <c:spPr>
              <a:solidFill>
                <a:srgbClr val="2C5F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F48-495E-9AE0-E56629611A3A}"/>
              </c:ext>
            </c:extLst>
          </c:dPt>
          <c:dPt>
            <c:idx val="2"/>
            <c:invertIfNegative val="0"/>
            <c:bubble3D val="0"/>
            <c:spPr>
              <a:solidFill>
                <a:srgbClr val="6E9B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F48-495E-9AE0-E56629611A3A}"/>
              </c:ext>
            </c:extLst>
          </c:dPt>
          <c:dPt>
            <c:idx val="3"/>
            <c:invertIfNegative val="0"/>
            <c:bubble3D val="0"/>
            <c:spPr>
              <a:solidFill>
                <a:srgbClr val="8A6BA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F48-495E-9AE0-E56629611A3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Cambio de uso de suelo (UTCUTS)</c:v>
                </c:pt>
                <c:pt idx="1">
                  <c:v>Fermentación entérica</c:v>
                </c:pt>
                <c:pt idx="2">
                  <c:v>Gestión de estiércol (CH₄+N₂O)</c:v>
                </c:pt>
                <c:pt idx="3">
                  <c:v>Suelos agrícolas (N₂O)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22940</c:v>
                </c:pt>
                <c:pt idx="1">
                  <c:v>7841.82</c:v>
                </c:pt>
                <c:pt idx="2">
                  <c:v>7677.54</c:v>
                </c:pt>
                <c:pt idx="3">
                  <c:v>4023.55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F48-495E-9AE0-E56629611A3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Pabellón de Arteaga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A22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Energía
(fija + transporte)</c:v>
                </c:pt>
                <c:pt idx="1">
                  <c:v>IPPU
(industria)</c:v>
                </c:pt>
                <c:pt idx="2">
                  <c:v>AFOLU
(agropecuario)</c:v>
                </c:pt>
                <c:pt idx="3">
                  <c:v>Residuos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75.819999999999993</c:v>
                </c:pt>
                <c:pt idx="1">
                  <c:v>1.85</c:v>
                </c:pt>
                <c:pt idx="2">
                  <c:v>21.51</c:v>
                </c:pt>
                <c:pt idx="3">
                  <c:v>0.84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7A-4166-BAD9-EA36810685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Estado de Aguascalientes</c:v>
                </c:pt>
              </c:strCache>
            </c:strRef>
          </c:tx>
          <c:spPr>
            <a:solidFill>
              <a:srgbClr val="8A6BAE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A22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Energía
(fija + transporte)</c:v>
                </c:pt>
                <c:pt idx="1">
                  <c:v>IPPU
(industria)</c:v>
                </c:pt>
                <c:pt idx="2">
                  <c:v>AFOLU
(agropecuario)</c:v>
                </c:pt>
                <c:pt idx="3">
                  <c:v>Residuos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50.02</c:v>
                </c:pt>
                <c:pt idx="1">
                  <c:v>26.51</c:v>
                </c:pt>
                <c:pt idx="2">
                  <c:v>15.24</c:v>
                </c:pt>
                <c:pt idx="3">
                  <c:v>8.24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7A-4166-BAD9-EA36810685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F2A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1F2A2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8855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C96ACC-F5FF-4BB8-BECF-3386972CA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7EE1DC-2076-4720-B4D1-213DFCCCB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B43C9D-43AF-48B6-BA60-D5A89CCA8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954BB-2C97-4871-BEF2-20DB2135485D}" type="datetimeFigureOut">
              <a:rPr lang="es-MX" smtClean="0"/>
              <a:t>30/07/2026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278DAA-C897-4C87-9904-8D2A7919C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78D965-EABA-465C-A9BB-60146C7CB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3039-7803-4A9C-8735-CCED763EFAC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2431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C5F2D">
              <a:alpha val="30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0332720" y="3657600"/>
            <a:ext cx="3840480" cy="3840480"/>
          </a:xfrm>
          <a:prstGeom prst="ellipse">
            <a:avLst/>
          </a:prstGeom>
          <a:solidFill>
            <a:srgbClr val="E8A33D">
              <a:alpha val="1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822960" y="1543903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kern="0" spc="150" dirty="0">
                <a:solidFill>
                  <a:srgbClr val="9F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HONORABLE AYUNTAMIENTO DE PABELLÓN DE ARTEAGA 2024–2027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2960" y="19431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kern="0" spc="100" dirty="0">
                <a:solidFill>
                  <a:srgbClr val="9F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Municipal de Biodiversidad y Protección Ambiental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1098713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ACCIÓN CLIMÁTICA LOCAL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Inventario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Emisiones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Gases de </a:t>
            </a: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Efecto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Invernadero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6E9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Municipio de Pabellón de Arteaga, Aguascalientes  ·  Año base 2022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4709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197,479.80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22960" y="5212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7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tCO₂e totales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37560" y="4709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4.14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337560" y="5212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7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tCO₂e / hab / año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852160" y="4709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1,112.4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5852160" y="5212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7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tCO₂e / km²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366760" y="4709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±12–18%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8366760" y="5212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7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incertidumbre AFOLU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31520" y="5829414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A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IPCC 2006 Nivel 2 (Tier 2) · Protocolo GPC · GWP AR5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8AA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Elaboración: Biólogo Luis Felipe Lozano Román — Junio 2026</a:t>
            </a:r>
            <a:endParaRPr lang="en-US" sz="1600" dirty="0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650153F1-D640-61FE-B6E4-7F41CF5A6B7E}"/>
              </a:ext>
            </a:extLst>
          </p:cNvPr>
          <p:cNvSpPr/>
          <p:nvPr/>
        </p:nvSpPr>
        <p:spPr>
          <a:xfrm>
            <a:off x="8996604" y="297180"/>
            <a:ext cx="4135272" cy="166878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F05B97E5-3838-1DBD-4767-414F15F9A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534" y="473805"/>
            <a:ext cx="2622079" cy="13640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6E9B5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cambio climático y por qué ocurre?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física que explica por qué cuantificar emisiones de GEI es el primer paso para actuar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22960" y="208483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D8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395728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alteración duradera y estadísticamente significativa de los patrones climáticos del planeta —temperatura, precipitación, viento— sostenida durante décadas o más.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C7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Revolución Industrial (~1850), la actividad humana ha acelerado un proceso que de forma natural ocurre a escala de miles de años.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89320" y="1920240"/>
            <a:ext cx="56235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CE3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263640" y="20848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EFECTO INVERNADERO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63640" y="2395728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atmósfera deja pasar la radiación solar, pero los gases de efecto invernadero (GEI) atrapan parte del calor que la Tierra refleja de vuelta al espacio, manteniendo la temperatura habitable.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63640" y="32918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problema: al aumentar la concentración de GEI, se retiene más calor del que el planeta puede liberar — el efecto invernadero natural se intensifica.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 CAUSAS DE ORIGEN HUMANO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272491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3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749808" y="470916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749808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14984" y="4709160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Quema de combustibles fósiles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9808" y="5463540"/>
            <a:ext cx="2322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Carbón, petróleo y gas para energía y transporte liberan CO₂ acumulado durante millones de años.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01568" y="4526280"/>
            <a:ext cx="272491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3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3602736" y="4709160"/>
            <a:ext cx="365760" cy="365760"/>
          </a:xfrm>
          <a:prstGeom prst="ellipse">
            <a:avLst/>
          </a:prstGeom>
          <a:solidFill>
            <a:srgbClr val="6E9B5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3602736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31336" y="4736592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Deforestación y cambio de uso de suelo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21024" y="5532871"/>
            <a:ext cx="2322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la capacidad de los ecosistemas para absorber CO₂ y libera el carbono almacenado en la vegetación.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54496" y="4526280"/>
            <a:ext cx="272491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3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6455664" y="470916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6455664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20840" y="4640580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 y ganadería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78524" y="5394960"/>
            <a:ext cx="2322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fermentación entérica, el manejo de estiércol y los fertilizantes nitrogenados emiten CH₄ y N₂O.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107424" y="4526280"/>
            <a:ext cx="2724912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3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9308592" y="4709160"/>
            <a:ext cx="365760" cy="365760"/>
          </a:xfrm>
          <a:prstGeom prst="ellipse">
            <a:avLst/>
          </a:prstGeom>
          <a:solidFill>
            <a:srgbClr val="8A6BA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9308592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491472" y="4675382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industriales y residuos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308592" y="5487082"/>
            <a:ext cx="2322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de cemento, químicos y descomposición de residuos orgánicos liberan CO₂, CH₄ y gases fluorados.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838160" y="64008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IPCC, Sexto Informe de Evaluación (AR6, 2021–2023) — Grupo de Trabajo I: Bases Físicas.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IMBIO · Pabellón de Arteaga — Inventario GEI 2022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5ACC8-F7EC-A498-E62E-DC8252845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2DAB2768-BDFB-731D-79EB-B5576C11EC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7644" y="119655"/>
            <a:ext cx="11136712" cy="625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209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5DB6F8-383E-5509-895A-48A33BB67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32750B7A-E4D7-8FF5-3ABC-EE08C656D2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286" y="182562"/>
            <a:ext cx="11542889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879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00" normalizeH="0" baseline="0" noProof="0" dirty="0">
                <a:ln>
                  <a:noFill/>
                </a:ln>
                <a:solidFill>
                  <a:srgbClr val="1B2E2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CONTEXTO INTERNACIONAL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El cambio climático es un desafío global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C7D4C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Las emisiones mundiales de GEI siguen en máximos históricos, mientras la brecha con la meta del Acuerdo de París se amplía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24382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212140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57.1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50" normalizeH="0" baseline="0" noProof="0" dirty="0">
                <a:ln>
                  <a:noFill/>
                </a:ln>
                <a:solidFill>
                  <a:srgbClr val="9FB0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GT CO₂E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2999232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7D4C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emisiones globales de GEI en 2023 — récord histórico (+1.3% vs 2022)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97680" y="196596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24382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26280" y="212140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2.5–2.9°C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26280" y="26974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50" normalizeH="0" baseline="0" noProof="0" dirty="0">
                <a:ln>
                  <a:noFill/>
                </a:ln>
                <a:solidFill>
                  <a:srgbClr val="9FB0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TRAYECTORIA ACTUAL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26280" y="2999232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7D4C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 calentamiento hacia 2100 con las políticas y compromisos vigentes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611880" cy="1737360"/>
          </a:xfrm>
          <a:prstGeom prst="roundRect">
            <a:avLst>
              <a:gd name="adj" fmla="val 5263"/>
            </a:avLst>
          </a:prstGeom>
          <a:solidFill>
            <a:srgbClr val="24382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75320" y="212140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−42%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75320" y="26974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50" normalizeH="0" baseline="0" noProof="0" dirty="0">
                <a:ln>
                  <a:noFill/>
                </a:ln>
                <a:solidFill>
                  <a:srgbClr val="9FB0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META 2030 (1.5°C)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75320" y="2999232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7D4C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global necesaria respecto a 2019 para mantener la ruta de 1.5°C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3977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E8A33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HITOS DEL MARCO INTERNACIONAL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" y="434340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B2E2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1988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783080" y="4343400"/>
            <a:ext cx="9829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6E0D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 crea el IPCC (Panel Intergubernamental de Cambio Climático) para evaluar la ciencia del clima.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4855464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8640" y="4855464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B2E2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783080" y="4855464"/>
            <a:ext cx="9829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6E0D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Acuerdo de París: 196 países se comprometen a mantener el calentamiento "muy por debajo" de 2°C, con esfuerzos para limitarlo a 1.5°C.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48640" y="5367528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8640" y="536752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B2E2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2021–23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783080" y="5367528"/>
            <a:ext cx="9829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6E0D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6º Informe del IPCC (AR6): la influencia humana en el calentamiento es "inequívoca"; se requieren reducciones drásticas y urgentes en todos los sectores.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48640" y="5879592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48640" y="5879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1B2E2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783080" y="5879592"/>
            <a:ext cx="9829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6E0D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Primer Balance Mundial (Global Stocktake, COP28): los países reconocen que van fuera de ruta y pactan "transitar" fuera de los combustibles fósiles.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687625" y="633679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8AA18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Fuente: UNEP Emissions Gap Report 2023/2024 · Acuerdo de París (CMNUCC, 2015) · IPCC AR6 Síntesis (2023) · COP28 Global Stocktake (2023).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FB0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IMBIO · Pabellón de Arteaga — Inventario GEI 2022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FB0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CONTEXTO NACIONAL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F2A22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México frente al cambio climático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5B6B5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Marco legal, metas de mitigación y perfil de emisiones nacionales que dan contexto al inventario municipal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3D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C5F2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~714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254203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50" normalizeH="0" baseline="0" noProof="0" dirty="0">
                <a:ln>
                  <a:noFill/>
                </a:ln>
                <a:solidFill>
                  <a:srgbClr val="5B6B5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MILLONES TCO₂E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281635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6B5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emisiones brutas nacionales (INECC, INEGYCEI, último año disponible: 2021)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97680" y="192024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3D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26280" y="201625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C5F2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−35%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26280" y="254203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50" normalizeH="0" baseline="0" noProof="0" dirty="0">
                <a:ln>
                  <a:noFill/>
                </a:ln>
                <a:solidFill>
                  <a:srgbClr val="5B6B5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META NDC 2030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26280" y="281635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6B5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no condicionada respecto al escenario tendencial · máx. 644 MtCO₂e brutas en 2030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3D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458200" y="204368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C5F2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364–404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75320" y="254203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50" normalizeH="0" baseline="0" noProof="0" dirty="0">
                <a:ln>
                  <a:noFill/>
                </a:ln>
                <a:solidFill>
                  <a:srgbClr val="5B6B5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MTCO₂E NETAS EN 2035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75320" y="281635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B6B5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meta no condicionada de la NDC 3.0 (2025), rumbo a cero emisiones netas a mediados de siglo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50" normalizeH="0" baseline="0" noProof="0" dirty="0">
                <a:ln>
                  <a:noFill/>
                </a:ln>
                <a:solidFill>
                  <a:srgbClr val="2C5F2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DEL ESFUERZO DE MITIGACIÓN 2030 POR SECTOR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640" y="3977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B6B5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Según participación de cada sector en el Inventario Nacional (INEGYCEI, datos preliminares 2024)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" y="425196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A2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Transporte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46120" y="4279392"/>
            <a:ext cx="3931920" cy="173736"/>
          </a:xfrm>
          <a:prstGeom prst="roundRect">
            <a:avLst>
              <a:gd name="adj" fmla="val 15789"/>
            </a:avLst>
          </a:prstGeom>
          <a:solidFill>
            <a:srgbClr val="2C5F2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223760" y="422452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2A2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8640" y="449884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A2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eléctrica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46120" y="4526280"/>
            <a:ext cx="3248108" cy="173736"/>
          </a:xfrm>
          <a:prstGeom prst="roundRect">
            <a:avLst>
              <a:gd name="adj" fmla="val 15789"/>
            </a:avLst>
          </a:prstGeom>
          <a:solidFill>
            <a:srgbClr val="2C5F2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539948" y="447141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2A2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8640" y="474573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A2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Industria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246120" y="4773168"/>
            <a:ext cx="3077155" cy="173736"/>
          </a:xfrm>
          <a:prstGeom prst="roundRect">
            <a:avLst>
              <a:gd name="adj" fmla="val 15789"/>
            </a:avLst>
          </a:prstGeom>
          <a:solidFill>
            <a:srgbClr val="2C5F2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368995" y="471830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2A2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48640" y="499262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A2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 y ganadería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246120" y="5020056"/>
            <a:ext cx="2906202" cy="173736"/>
          </a:xfrm>
          <a:prstGeom prst="roundRect">
            <a:avLst>
              <a:gd name="adj" fmla="val 15789"/>
            </a:avLst>
          </a:prstGeom>
          <a:solidFill>
            <a:srgbClr val="2C5F2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198042" y="4965192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2A2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48640" y="523951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A2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Residuos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246120" y="5266944"/>
            <a:ext cx="1538577" cy="173736"/>
          </a:xfrm>
          <a:prstGeom prst="roundRect">
            <a:avLst>
              <a:gd name="adj" fmla="val 15789"/>
            </a:avLst>
          </a:prstGeom>
          <a:solidFill>
            <a:srgbClr val="2C5F2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830417" y="521208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2A2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48640" y="548640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A2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Petróleo y gas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246120" y="5513832"/>
            <a:ext cx="1367624" cy="173736"/>
          </a:xfrm>
          <a:prstGeom prst="roundRect">
            <a:avLst>
              <a:gd name="adj" fmla="val 15789"/>
            </a:avLst>
          </a:prstGeom>
          <a:solidFill>
            <a:srgbClr val="2C5F2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659464" y="54589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2A2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48640" y="573328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A2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Uso de suelo y silvicultura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246120" y="5760720"/>
            <a:ext cx="512859" cy="173736"/>
          </a:xfrm>
          <a:prstGeom prst="roundRect">
            <a:avLst>
              <a:gd name="adj" fmla="val 15789"/>
            </a:avLst>
          </a:prstGeom>
          <a:solidFill>
            <a:srgbClr val="2C5F2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804699" y="570585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2A2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48640" y="598017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A2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Residencial y comercial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246120" y="6007608"/>
            <a:ext cx="512859" cy="173736"/>
          </a:xfrm>
          <a:prstGeom prst="roundRect">
            <a:avLst>
              <a:gd name="adj" fmla="val 15789"/>
            </a:avLst>
          </a:prstGeom>
          <a:solidFill>
            <a:srgbClr val="2C5F2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804699" y="595274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F2A2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503920" y="4251960"/>
            <a:ext cx="3154680" cy="182880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732520" y="44074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50" normalizeH="0" baseline="0" noProof="0" dirty="0">
                <a:ln>
                  <a:noFill/>
                </a:ln>
                <a:solidFill>
                  <a:srgbClr val="D8E6D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MARCO LEGAL E INSTITUCIONAL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732520" y="470916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AF2E6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Ley General de Cambio Climático · Plan Nacional de Desarrollo 2025–2030 · Programa Especial de Cambio Climático (PECC) 2026–2030 · NDC 3.0 ante la CMNUCC (2025)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5B6B5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Fuente: INECC/INEGYCEI · NDC 3.0 México ante la CMNUCC (2025) · Plan Nacional de Desarrollo 2025–2030 · Semarnat.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B5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IMBIO · Pabellón de Arteaga — Inventario GEI 2022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B6B5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este inventario y para qué sirve?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Cuantifica todas las emisiones de gases de efecto invernadero generadas dentro del municipio durante 2022, siguiendo estándares internacionales. Es la línea base oficial para diseñar y medir el Programa de Acción Climática (PAC) 2026–2030.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949440" y="1600200"/>
            <a:ext cx="46634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3DA"/>
            </a:solidFill>
            <a:prstDash val="solid"/>
          </a:ln>
          <a:effectLst>
            <a:outerShdw blurRad="127000" dist="38100" dir="5400000" algn="bl" rotWithShape="0">
              <a:srgbClr val="1B2E22">
                <a:alpha val="12000"/>
              </a:srgbClr>
            </a:outerShdw>
          </a:effectLst>
        </p:spPr>
        <p:txBody>
          <a:bodyPr/>
          <a:lstStyle/>
          <a:p>
            <a:endParaRPr lang="es-MX" sz="2800"/>
          </a:p>
        </p:txBody>
      </p:sp>
      <p:sp>
        <p:nvSpPr>
          <p:cNvPr id="7" name="Text 5"/>
          <p:cNvSpPr/>
          <p:nvPr/>
        </p:nvSpPr>
        <p:spPr>
          <a:xfrm>
            <a:off x="7269480" y="1828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MUNICIPIO EN CIFRAS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269480" y="2331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89720" y="2331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177.529 km²  (3.13% del estado)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69480" y="295351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(2020)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89720" y="295351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47,646 habitantes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269480" y="357530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Emisiones totales 2022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89720" y="357530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197,479.80 tCO₂e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269480" y="4197096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Emisiones per cápita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89720" y="419709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4.14 tCO₂e/hab/año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269480" y="481888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Intensidad territorial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89720" y="48188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1,112.4 tCO₂e/km²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8640" y="3291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METODOLÓGICO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66928" y="3785616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822960" y="364845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IPCC 2006 · Nivel 2 (Tier 2)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66928" y="4206240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822960" y="4069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GPC (WRI/C40/ICLEI)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66928" y="4626864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822960" y="448970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GWP AR5: CH₄=28 · N₂O=265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66928" y="5047488"/>
            <a:ext cx="91440" cy="914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822960" y="491032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sectores · 3 gases (CO₂, CH₄, N₂O)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48640" y="548640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Alcance: emisiones directas (Scope 1) e indirectas por electricidad (Scope 2) dentro de los límites municipales · Periodo: enero–diciembre 2022.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IMBIO · Pabellón de Arteaga — Inventario GEI 2022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Emisiones totales por sector — 2022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405866603"/>
              </p:ext>
            </p:extLst>
          </p:nvPr>
        </p:nvGraphicFramePr>
        <p:xfrm>
          <a:off x="548640" y="1600200"/>
          <a:ext cx="65836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452360" y="1600200"/>
            <a:ext cx="4160520" cy="1874520"/>
          </a:xfrm>
          <a:prstGeom prst="roundRect">
            <a:avLst>
              <a:gd name="adj" fmla="val 5854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772668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kern="0" spc="100" dirty="0">
                <a:solidFill>
                  <a:srgbClr val="C7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MUNICIPAL 2022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726680" y="21488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197,479.80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772668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F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toneladas de CO₂ equivalente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2668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7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 y Autotransporte concentran el 75.82% del total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452360" y="3703320"/>
            <a:ext cx="41605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3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772668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POR SECTOR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7726680" y="4261104"/>
            <a:ext cx="128016" cy="128016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7936992" y="41605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 Estacionaria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0378440" y="41605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39.30%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7726680" y="4572000"/>
            <a:ext cx="128016" cy="128016"/>
          </a:xfrm>
          <a:prstGeom prst="ellipse">
            <a:avLst/>
          </a:prstGeom>
          <a:solidFill>
            <a:srgbClr val="6E9B5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4"/>
          <p:cNvSpPr/>
          <p:nvPr/>
        </p:nvSpPr>
        <p:spPr>
          <a:xfrm>
            <a:off x="7936992" y="447141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Autotransporte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10378440" y="447141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36.52%</a:t>
            </a: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7726680" y="4882896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7"/>
          <p:cNvSpPr/>
          <p:nvPr/>
        </p:nvSpPr>
        <p:spPr>
          <a:xfrm>
            <a:off x="7936992" y="47823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AFOLU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0378440" y="478231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21.51%</a:t>
            </a: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7726680" y="5193792"/>
            <a:ext cx="128016" cy="128016"/>
          </a:xfrm>
          <a:prstGeom prst="ellipse">
            <a:avLst/>
          </a:prstGeom>
          <a:solidFill>
            <a:srgbClr val="8A6BA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0"/>
          <p:cNvSpPr/>
          <p:nvPr/>
        </p:nvSpPr>
        <p:spPr>
          <a:xfrm>
            <a:off x="7936992" y="509320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IPPU</a:t>
            </a: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0378440" y="509320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1.85%</a:t>
            </a: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7726680" y="5504688"/>
            <a:ext cx="128016" cy="128016"/>
          </a:xfrm>
          <a:prstGeom prst="ellipse">
            <a:avLst/>
          </a:prstGeom>
          <a:solidFill>
            <a:srgbClr val="B846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3"/>
          <p:cNvSpPr/>
          <p:nvPr/>
        </p:nvSpPr>
        <p:spPr>
          <a:xfrm>
            <a:off x="7936992" y="540410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</a:t>
            </a: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10378440" y="540410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0.82%</a:t>
            </a: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IMBIO · Pabellón de Arteaga — Inventario GEI 2022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Distribución de emisiones por tipo de gas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060375070"/>
              </p:ext>
            </p:extLst>
          </p:nvPr>
        </p:nvGraphicFramePr>
        <p:xfrm>
          <a:off x="457200" y="1554480"/>
          <a:ext cx="51206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035040" y="1691640"/>
            <a:ext cx="5577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domina el perfil de emisiones (80.59%), seguido por N₂O y CH₄ de origen agropecuario y de residuos. Los HFC, aunque minoritarios en volumen, tienen un potencial de calentamiento hasta 2,088 veces mayor que el CO₂.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6035040" y="3063240"/>
            <a:ext cx="5577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3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5"/>
          <p:cNvSpPr/>
          <p:nvPr/>
        </p:nvSpPr>
        <p:spPr>
          <a:xfrm>
            <a:off x="6217920" y="3264408"/>
            <a:ext cx="292608" cy="292608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/>
          <p:nvPr/>
        </p:nvSpPr>
        <p:spPr>
          <a:xfrm>
            <a:off x="6217920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675120" y="31363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Dióxido de carbono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675120" y="34107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GWP AR5: 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692640" y="3063240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80.59%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035040" y="3886200"/>
            <a:ext cx="5577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3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1"/>
          <p:cNvSpPr/>
          <p:nvPr/>
        </p:nvSpPr>
        <p:spPr>
          <a:xfrm>
            <a:off x="6217920" y="4087368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/>
          <p:nvPr/>
        </p:nvSpPr>
        <p:spPr>
          <a:xfrm>
            <a:off x="6217920" y="4087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N₂O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675120" y="39593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Óxido nitroso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675120" y="42336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GWP AR5: 265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692640" y="3886200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8.95%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6035040" y="4709160"/>
            <a:ext cx="5577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3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7"/>
          <p:cNvSpPr/>
          <p:nvPr/>
        </p:nvSpPr>
        <p:spPr>
          <a:xfrm>
            <a:off x="6217920" y="4910328"/>
            <a:ext cx="292608" cy="292608"/>
          </a:xfrm>
          <a:prstGeom prst="ellipse">
            <a:avLst/>
          </a:prstGeom>
          <a:solidFill>
            <a:srgbClr val="6E9B5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8"/>
          <p:cNvSpPr/>
          <p:nvPr/>
        </p:nvSpPr>
        <p:spPr>
          <a:xfrm>
            <a:off x="6217920" y="4910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CH₄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675120" y="47823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Metano</a:t>
            </a: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675120" y="50566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GWP AR5: 28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692640" y="4709160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6E9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8.61%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6035040" y="5532120"/>
            <a:ext cx="5577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3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3"/>
          <p:cNvSpPr/>
          <p:nvPr/>
        </p:nvSpPr>
        <p:spPr>
          <a:xfrm>
            <a:off x="6217920" y="5733288"/>
            <a:ext cx="292608" cy="292608"/>
          </a:xfrm>
          <a:prstGeom prst="ellipse">
            <a:avLst/>
          </a:prstGeom>
          <a:solidFill>
            <a:srgbClr val="8A6BA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7" name="Text 24"/>
          <p:cNvSpPr/>
          <p:nvPr/>
        </p:nvSpPr>
        <p:spPr>
          <a:xfrm>
            <a:off x="6217920" y="5733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HFC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675120" y="56052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Gases fluorados</a:t>
            </a: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675120" y="58795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GWP AR5: 1,430–2,088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692640" y="5532120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A6B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1.28%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IMBIO · Pabellón de Arteaga — Inventario GEI 2022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s-MX" sz="400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Energía Estacionaria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39.30% del total municipal · Código IPCC 1.A / 1.B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95360" y="914400"/>
            <a:ext cx="3017520" cy="868680"/>
          </a:xfrm>
          <a:prstGeom prst="roundRect">
            <a:avLst>
              <a:gd name="adj" fmla="val 10526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595360" y="1005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77,619.69</a:t>
            </a: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tCO₂e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95360" y="13990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primer emisor del municipio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Emisiones de CO₂ por consumo eléctrico en fuentes fijas (residencial, comercial, industrial, alumbrado público) y uso de Gas LP residencial. Factor de red nacional 2022: 0.454 kgCO₂/kWh.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082898"/>
              </p:ext>
            </p:extLst>
          </p:nvPr>
        </p:nvGraphicFramePr>
        <p:xfrm>
          <a:off x="594360" y="2606040"/>
          <a:ext cx="7406640" cy="274320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Subsector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Consumo 2022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Emisiones (tCO₂)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Residencial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77,040 MWh/año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34,976.16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Comercial y Servicios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38,520 MWh/año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17,488.08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21,440 MWh/año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9,733.76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Alumbrado público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3,200 MWh/año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1,452.80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LP residencial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8,638,770 L/año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13,968.89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8366760" y="2606040"/>
            <a:ext cx="32461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3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8595360" y="278892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RESIDENCIAL ES EL PRINCIPAL CONSUMIDOR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595360" y="34290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8595360" y="39776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consumo eléctrico total (140,200 MWh/año) proviene de hogares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33400" y="5715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CFE (tarifas), H. Ayuntamiento, ENIGH 2022 / SIE-SENER · Factor red SIN 2022; Gas LP: INECC / IPCC 2006 Vol.2 T.1.4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IMBIO · Pabellón de Arteaga — Inventario GEI 2022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6E9B5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Autotransporte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36.52% del total municipal · Código IPCC 1.A.3.b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595360" y="914400"/>
            <a:ext cx="3017520" cy="868680"/>
          </a:xfrm>
          <a:prstGeom prst="roundRect">
            <a:avLst>
              <a:gd name="adj" fmla="val 10526"/>
            </a:avLst>
          </a:prstGeom>
          <a:solidFill>
            <a:srgbClr val="6E9B5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595360" y="1005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72,113.15 tCO₂e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595360" y="13990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F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emisor del municipio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Emisiones de CO₂ y CH₄ por combustión de gasolina y diésel en el parque vehicular municipal (16,200 vehículos estimados), con ajuste por tráfico de paso conforme al Protocolo GPC.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3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 vehicular estimado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0" y="269748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16,200 vehículos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503920" y="269748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gasolina · 15% diésel/carga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493008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3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822960" y="3493008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Emisiones brutas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0" y="3493008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87,942.87 tCO₂e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3493008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+ CH₄ combinados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28853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3DA"/>
            </a:solidFill>
            <a:prstDash val="solid"/>
          </a:ln>
        </p:spPr>
        <p:txBody>
          <a:bodyPr/>
          <a:lstStyle/>
          <a:p>
            <a:endParaRPr lang="es-MX" sz="3200"/>
          </a:p>
        </p:txBody>
      </p:sp>
      <p:sp>
        <p:nvSpPr>
          <p:cNvPr id="19" name="Text 17"/>
          <p:cNvSpPr/>
          <p:nvPr/>
        </p:nvSpPr>
        <p:spPr>
          <a:xfrm>
            <a:off x="822960" y="4288536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tráfico extramunicipal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86400" y="4288536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−15,829.72 tCO₂e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503920" y="4288536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· Protocolo GPC §5.3.2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508406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822960" y="5084064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sector Autotransporte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86400" y="5084064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72,113.15 tCO₂e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503920" y="5084064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CE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neto municipal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SEIEG (padrón vehicular), INEGYCEI 2018 (mix nacional) · Leyenda de calidad del dato: D=directo, E=estimado, Ex=extrapolado (IPCC 2006, Vol.1 §1.3.2)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IMBIO · Pabellón de Arteaga — Inventario GEI 2022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AFOLU — Agricultura, Silvicultura y Uso de Suelo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21.51% del total municipal · </a:t>
            </a:r>
            <a:r>
              <a:rPr lang="en-US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r>
              <a:rPr lang="en-US" sz="16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Nivel 2 (Tier 2) · Código </a:t>
            </a:r>
            <a:r>
              <a:rPr lang="en-US" sz="20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IPCC</a:t>
            </a:r>
            <a:r>
              <a:rPr lang="en-US" sz="16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3.A / 3.B / 3.C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418320" y="91440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9418320" y="9601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42,482.91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8320" y="13258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tCO₂e</a:t>
            </a:r>
            <a:endParaRPr lang="en-US" sz="100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4051509587"/>
              </p:ext>
            </p:extLst>
          </p:nvPr>
        </p:nvGraphicFramePr>
        <p:xfrm>
          <a:off x="548640" y="1874520"/>
          <a:ext cx="6309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7178040" y="1874520"/>
            <a:ext cx="44348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E3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7406640" y="20574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B84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CLAVE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406640" y="237744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580 hectáreas convertidas (2017–2022) explican más de la mitad de las emisiones AFOLU: matorral y bosque de encino cedieron terreno a uso agrícola.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406640" y="352044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ganadería porcina con laguna anaeróbica es la fuente pecuaria más intensiva, por el efecto del clima cálido de verano en la conversión de metano (MCF=66%).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251192" y="50384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UTCUTS, ganadería + suelos suman 19,542.91 tCO₂e (21.51% → equivalente a la mitad del sector sin cambio de uso de suelo).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6172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INIFAP (2023), INECC (2022), IPCC (2019) Tablas 10A · GWP AR5: CH₄=28, N₂O=265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IMBIO · Pabellón de Arteaga — Inventario GEI 2022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8A6BA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SECTORES 4 Y 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Residuos e Industria (IPPU)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2.67% combinado del </a:t>
            </a:r>
            <a:r>
              <a:rPr lang="en-US" sz="24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r>
              <a:rPr lang="en-US" sz="20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municipal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CE3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394960" cy="685800"/>
          </a:xfrm>
          <a:prstGeom prst="roundRect">
            <a:avLst>
              <a:gd name="adj" fmla="val 16000"/>
            </a:avLst>
          </a:prstGeom>
          <a:solidFill>
            <a:srgbClr val="B846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94960" cy="228600"/>
          </a:xfrm>
          <a:prstGeom prst="rect">
            <a:avLst/>
          </a:prstGeom>
          <a:solidFill>
            <a:srgbClr val="B846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Residuos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0" y="18745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1,618.96 tCO₂e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743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en relleno sanitario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06240" y="2743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1,277.93 tCO₂e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14553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N₂O efluentes domésticos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06240" y="314553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374.75 tCO₂e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5478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CH₄ aguas residuales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06240" y="35478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3.12 tCO₂e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39502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drenaje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06240" y="395020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99.0%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44348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relleno sanitario es de operación privada, ubicado fuera del municipio: las emisiones se reportan bajo responsabilidad del generador (Scope 3 / GPC BASIC+).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1874520"/>
            <a:ext cx="539496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CE3DA"/>
            </a:solidFill>
            <a:prstDash val="solid"/>
          </a:ln>
        </p:spPr>
        <p:txBody>
          <a:bodyPr/>
          <a:lstStyle/>
          <a:p>
            <a:endParaRPr lang="es-MX" sz="2400"/>
          </a:p>
        </p:txBody>
      </p:sp>
      <p:sp>
        <p:nvSpPr>
          <p:cNvPr id="21" name="Shape 19"/>
          <p:cNvSpPr/>
          <p:nvPr/>
        </p:nvSpPr>
        <p:spPr>
          <a:xfrm>
            <a:off x="6217920" y="1874520"/>
            <a:ext cx="5394960" cy="685800"/>
          </a:xfrm>
          <a:prstGeom prst="roundRect">
            <a:avLst>
              <a:gd name="adj" fmla="val 16000"/>
            </a:avLst>
          </a:prstGeom>
          <a:solidFill>
            <a:srgbClr val="8A6BA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6217920" y="2331720"/>
            <a:ext cx="5394960" cy="228600"/>
          </a:xfrm>
          <a:prstGeom prst="rect">
            <a:avLst/>
          </a:prstGeom>
          <a:solidFill>
            <a:srgbClr val="8A6BA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6492240" y="187452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IPPU (procesos industriales)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492240" y="18745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D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3,645.09 tCO₂e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92240" y="2743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HFC refrigeración comercial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96112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1,408.55 tCO₂e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92240" y="3108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HFC climatización industrial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961120" y="3108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1,122.95 tCO₂e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92240" y="3474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 avícola (proceso)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961120" y="3474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520.80 tCO₂e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92240" y="3840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 en construcción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6112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305.51 tCO₂e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92240" y="4206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 textil (COV, RETC)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961120" y="4206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287.28 tCO₂e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92240" y="47091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gases fluorados (HFC) concentran el 69% del sector: prioridad para transición a refrigerantes de bajo GWP (Protocolo de Kigali).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IMBIO · Pabellón de Arteaga — Inventario GEI 2022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se compara Pabellón de Arteaga?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24382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kern="0" spc="50" dirty="0">
                <a:solidFill>
                  <a:srgbClr val="9F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EMISIONES PER CÁPITA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4.14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tCO₂e/hab/año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8AA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Nacional ≈5.9 · Ags. capital ≈4.8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24382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611880" y="20116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kern="0" spc="50" dirty="0">
                <a:solidFill>
                  <a:srgbClr val="9F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INTENSIDAD TERRITORIAL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11880" y="2542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8C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1,112.4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611880" y="30632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tCO₂e/km²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11880" y="33375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8AA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OCDE ciudades medias: 500–2,000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24382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446520" y="20116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kern="0" spc="50" dirty="0">
                <a:solidFill>
                  <a:srgbClr val="9F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INCERTIDUMBRE AFOLU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46520" y="2542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±12–18%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446520" y="30632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±25–35% Nivel 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33375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8AA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sustancial por factores regionales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052560" y="1828800"/>
            <a:ext cx="2697480" cy="1965960"/>
          </a:xfrm>
          <a:prstGeom prst="roundRect">
            <a:avLst>
              <a:gd name="adj" fmla="val 4651"/>
            </a:avLst>
          </a:prstGeom>
          <a:solidFill>
            <a:srgbClr val="24382C"/>
          </a:solidFill>
          <a:ln/>
        </p:spPr>
        <p:txBody>
          <a:bodyPr/>
          <a:lstStyle/>
          <a:p>
            <a:endParaRPr lang="es-MX" sz="2800"/>
          </a:p>
        </p:txBody>
      </p:sp>
      <p:sp>
        <p:nvSpPr>
          <p:cNvPr id="21" name="Text 19"/>
          <p:cNvSpPr/>
          <p:nvPr/>
        </p:nvSpPr>
        <p:spPr>
          <a:xfrm>
            <a:off x="9281160" y="20116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kern="0" spc="50" dirty="0">
                <a:solidFill>
                  <a:srgbClr val="9F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INCERTIDUMBRE IPPU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281160" y="25420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±10–15%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281160" y="30632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±20–30% Nivel 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281160" y="33375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8AA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directos RETC-SEMARNAT 2022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sectorial dominante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48640" y="457200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E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Energía Estacionaria (39.30%) y Autotransporte (36.52%) son consistentes con el perfil del Inventario Estatal de Aguascalientes (SSMAA, 2025). El aporte de AFOLU (21.51%) es superior al promedio de municipios estrictamente urbanos, reflejando el peso del Distrito de Riego 01 y la ganadería.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IMBIO · Pabellón de Arteaga — Inventario GEI 2022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8A6BA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ESTATAL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Pabellón de Arteaga frente al Inventario Estatal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Compuestos y GEI del Estado de Aguascalientes, año base 2022 (SSMAA / GIZ / INECC, 2025)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3DA"/>
            </a:solidFill>
            <a:prstDash val="solid"/>
          </a:ln>
        </p:spPr>
        <p:txBody>
          <a:bodyPr/>
          <a:lstStyle/>
          <a:p>
            <a:endParaRPr lang="es-MX" sz="280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8A6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EN EL ESTADO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3.31%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197,479.80 de 5,960,590 tCO₂e netas estatales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97680" y="187452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3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526280" y="20116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8A6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EMISIONES PER CÁPITA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22860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4.14 vs 4.18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297680" y="26974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tCO₂e/hab · Municipio vs Estado (Nacional ≈5.9)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87452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CE3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8275320" y="20116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8A6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INTENSIDAD TERRITORIAL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75320" y="22860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1,112.4 vs 1,049.4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275320" y="26974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tCO₂e/km² · Municipio vs Estado</a:t>
            </a:r>
            <a:endParaRPr lang="en-US" sz="1100" dirty="0"/>
          </a:p>
        </p:txBody>
      </p:sp>
      <p:graphicFrame>
        <p:nvGraphicFramePr>
          <p:cNvPr id="18" name="Chart 0"/>
          <p:cNvGraphicFramePr/>
          <p:nvPr>
            <p:extLst>
              <p:ext uri="{D42A27DB-BD31-4B8C-83A1-F6EECF244321}">
                <p14:modId xmlns:p14="http://schemas.microsoft.com/office/powerpoint/2010/main" val="225937629"/>
              </p:ext>
            </p:extLst>
          </p:nvPr>
        </p:nvGraphicFramePr>
        <p:xfrm>
          <a:off x="548640" y="3337560"/>
          <a:ext cx="740664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6"/>
          <p:cNvSpPr/>
          <p:nvPr/>
        </p:nvSpPr>
        <p:spPr>
          <a:xfrm>
            <a:off x="8183880" y="3337560"/>
            <a:ext cx="347472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DCE3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7"/>
          <p:cNvSpPr/>
          <p:nvPr/>
        </p:nvSpPr>
        <p:spPr>
          <a:xfrm>
            <a:off x="8412480" y="34061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8A6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COMPARATIVO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412480" y="3749040"/>
            <a:ext cx="3200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perfil municipal está más concentrado en Energía y Transporte (75.8% vs 50.0% estatal), mientras el estado tiene un peso industrial (IPPU) mucho mayor —26.5% vs 1.9%— por su vocación manufacturera y automotriz.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412480" y="51206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AFOLU y Residuos pesan proporcionalmente más en Pabellón de Arteaga, reflejo de su carácter agropecuario frente al promedio estatal.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Inventario de Compuestos y GEI del Estado de Aguascalientes, año base 2022 (SSMAA/GIZ/INECC, 2025) · Total estatal neto: 5,960.59 Gg CO₂e (tras absorción de 276.04 Gg) · Población estatal: INEGI, Censo 2020.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IMBIO · Pabellón de Arteaga — Inventario GEI 2022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977640" cy="365760"/>
          </a:xfrm>
          <a:prstGeom prst="roundRect">
            <a:avLst>
              <a:gd name="adj" fmla="val 50000"/>
            </a:avLst>
          </a:prstGeom>
          <a:solidFill>
            <a:srgbClr val="B846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</a:t>
            </a: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DESTACADO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Ganadería porcina: la fuente más intensiva del sector agropecuario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57600" cy="3840480"/>
          </a:xfrm>
          <a:prstGeom prst="roundRect">
            <a:avLst>
              <a:gd name="adj" fmla="val 3000"/>
            </a:avLst>
          </a:prstGeom>
          <a:solidFill>
            <a:srgbClr val="B8462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6,226.36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BD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tCO₂e/año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F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emitidas por gestión de estiércol porcino en laguna anaeróbica — el subsector más intensivo del inventario municipal.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7240" y="48920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FBD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MCF = 66% para el 80% del estiércol porcino, por las temperaturas de verano (&gt;28°C) típicas de Pabellón de Arteaga.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26280" y="1920240"/>
            <a:ext cx="70866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3D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800600" y="214884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DE MITIGACIÓN PRIORITARIA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00600" y="25146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 de Biodigestores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800600" y="30175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el 80% del estiércol porcino de laguna anaeróbica a biodigestores con captura de biogás.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800600" y="3794760"/>
            <a:ext cx="3200400" cy="1691640"/>
          </a:xfrm>
          <a:prstGeom prst="roundRect">
            <a:avLst>
              <a:gd name="adj" fmla="val 5405"/>
            </a:avLst>
          </a:prstGeom>
          <a:solidFill>
            <a:srgbClr val="EFF5E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5029200" y="39776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~5,500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5029200" y="45720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tCO₂e/año de reducción potencial estimada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0" y="3794760"/>
            <a:ext cx="3200400" cy="1691640"/>
          </a:xfrm>
          <a:prstGeom prst="roundRect">
            <a:avLst>
              <a:gd name="adj" fmla="val 5405"/>
            </a:avLst>
          </a:prstGeom>
          <a:solidFill>
            <a:srgbClr val="FCF3E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8458200" y="39776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2026–2028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458200" y="45720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de implementación · Acción M3-A del PAC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IMBIO · Pabellón de Arteaga — Inventario GEI 2022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Recomendaciones prioritarias de mitigación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551316"/>
              </p:ext>
            </p:extLst>
          </p:nvPr>
        </p:nvGraphicFramePr>
        <p:xfrm>
          <a:off x="548640" y="1554480"/>
          <a:ext cx="11064240" cy="3785616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Medida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Reducción (tCO₂e/año)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Energía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Eficiencia energética en edificios (LED, ISO 50001)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−8,500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2026–2027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Energía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Sistemas fotovoltaicos (meta 5 MWp)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−6,200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2026–2028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Renovación del parque vehicular / e-mobility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−5,800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2026–2030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AFOLU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Biodigestores en granjas porcinas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−5,500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2026–2028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Movilidad no motorizada (ciclovías)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−2,100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2026–2027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AFOLU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Optimización de fertilizantes nitrogenados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−1,900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2026–2027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Residuos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climática de contrato RSU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~−610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2026–2029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IPPU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Sustitución de HFC por refrigerantes bajo GWP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−800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2027–2032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822960" y="562356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TOTAL SI SE IMPLEMENTAN TODAS LAS MEDIDAS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315200" y="562356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−31,900 tCO₂e/año  (≈16.1% de la línea base) · </a:t>
            </a:r>
            <a:r>
              <a:rPr lang="en-US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2026–2032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IMBIO · Pabellón de Arteaga — Inventario GEI 2022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2030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Ruta de descarbonización municipal al 2030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C7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 2022: 197,479.80 tCO₂e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24382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9276972" cy="548640"/>
          </a:xfrm>
          <a:prstGeom prst="roundRect">
            <a:avLst>
              <a:gd name="adj" fmla="val 13333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8293616" y="2039112"/>
            <a:ext cx="0" cy="768096"/>
          </a:xfrm>
          <a:prstGeom prst="line">
            <a:avLst/>
          </a:prstGeom>
          <a:noFill/>
          <a:ln w="25400">
            <a:solidFill>
              <a:srgbClr val="FFFFFF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7287776" y="12801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30% (2030)</a:t>
            </a: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138,236 tCO₂e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9F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alcanzable con medidas identificadas (2032): 31,900 tCO₂e (≈16.1%)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24382C"/>
          </a:solidFill>
          <a:ln/>
        </p:spPr>
        <p:txBody>
          <a:bodyPr/>
          <a:lstStyle/>
          <a:p>
            <a:endParaRPr lang="es-MX" sz="320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197,479.80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31520" y="423367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tCO₂e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5262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F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 2022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83280" y="352044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24382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3566160" y="3749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59,243.94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566160" y="423367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tCO₂e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66160" y="45262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F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requerida para meta 30%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352044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24382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6400800" y="3749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31,900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400800" y="423367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tCO₂e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45262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F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alcanzable con medidas actuales (2032)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052560" y="352044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24382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9235440" y="3749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16.1%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9235440" y="423367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línea base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35440" y="45262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F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con el paquete de medidas propuesto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i="1" dirty="0">
                <a:solidFill>
                  <a:srgbClr val="C7D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recomienda actualizar el inventario con datos de 2027, extendiendo Nivel 2 a Energía y Autotransporte, e incorporar el municipio al sistema MRV de la SSMAA.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IMBIO · Pabellón de Arteaga — Inventario GEI 2022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5943600" cy="5943600"/>
          </a:xfrm>
          <a:prstGeom prst="ellipse">
            <a:avLst/>
          </a:prstGeom>
          <a:solidFill>
            <a:srgbClr val="2C5F2D">
              <a:alpha val="2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9144000" y="-2286000"/>
            <a:ext cx="5029200" cy="5029200"/>
          </a:xfrm>
          <a:prstGeom prst="ellipse">
            <a:avLst/>
          </a:prstGeom>
          <a:solidFill>
            <a:srgbClr val="E8A33D">
              <a:alpha val="18000"/>
            </a:srgb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838200" y="1600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línea base sólida para actuar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1140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D6E0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Inventario 2022 confirma que Energía y Autotransporte son las palancas de mayor impacto, mientras que AFOLU exige atención por el cambio de uso de suelo y la ganadería. El paquete de medidas identificado puede reducir hasta 31,900 tCO₂e/año hacia 2032, avanzando en la ruta hacia la meta municipal de descarbonización 2030.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937760"/>
            <a:ext cx="92925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Municipal de Biodiversidad y Protección Ambiental (IMBIO)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5489257"/>
            <a:ext cx="7711442" cy="2257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F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Biólogo Luis Felipe Lozano Román  ·  imbio@pabellon.gob.mx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6040755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FB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Pabellón de Arteaga, Aguascalientes — Junio 2026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2686</Words>
  <Application>Microsoft Office PowerPoint</Application>
  <PresentationFormat>Panorámica</PresentationFormat>
  <Paragraphs>397</Paragraphs>
  <Slides>19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Biol. Luis Felipe Lozano Roman</cp:lastModifiedBy>
  <cp:revision>5</cp:revision>
  <dcterms:created xsi:type="dcterms:W3CDTF">2026-07-30T14:37:05Z</dcterms:created>
  <dcterms:modified xsi:type="dcterms:W3CDTF">2026-07-30T15:34:27Z</dcterms:modified>
</cp:coreProperties>
</file>